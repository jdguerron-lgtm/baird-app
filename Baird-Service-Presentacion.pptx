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85800"/>
            <a:ext cx="548640" cy="548640"/>
          </a:xfrm>
          <a:prstGeom prst="ellipse">
            <a:avLst/>
          </a:prstGeom>
          <a:solidFill>
            <a:srgbClr val="0B556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806501"/>
            <a:ext cx="307238" cy="307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55448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BAIRD SERVICE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640080" y="2514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de reparación de electrodomésticos de línea blanca en Colombia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3246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   ·   </a:t>
            </a:r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y permisos   ·   </a:t>
            </a:r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y tarifas   ·   </a:t>
            </a:r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  ·   </a:t>
            </a:r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Indexación en Google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interno  ·  Julio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es Baird Service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clientes con técnicos verificados vía coordinación por WhatsApp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4114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marketplace operada por Baird Service SAS. El cliente solicita el servicio en la web, los técnicos compatibles reciben la oferta por WhatsApp y el primero que acepta se la queda. Todo el ciclo (agendamiento, diagnóstico, cotización, evidencias, confirmación) vive en la plataforma.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sistema se divide en dos flujos según un solo booleano: es_garantia. Se fija al crear la solicitud y nunca cambia.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892040" y="1188720"/>
            <a:ext cx="3794760" cy="1691640"/>
          </a:xfrm>
          <a:prstGeom prst="roundRect">
            <a:avLst>
              <a:gd name="adj" fmla="val 3784"/>
            </a:avLst>
          </a:prstGeom>
          <a:solidFill>
            <a:srgbClr val="EAF4F5"/>
          </a:solidFill>
          <a:ln w="9525">
            <a:solidFill>
              <a:srgbClr val="DDE7E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120640" y="1417320"/>
            <a:ext cx="384048" cy="384048"/>
          </a:xfrm>
          <a:prstGeom prst="ellipse">
            <a:avLst/>
          </a:prstGeom>
          <a:solidFill>
            <a:srgbClr val="0B556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5131" y="1501811"/>
            <a:ext cx="215067" cy="21506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23560" y="14173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GARANTÍA  (es_garantia = true)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120640" y="19202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marca (MABE) paga a Baird una tarifa fija por código de complejidad. El cliente no paga nada. Tras el diagnóstico, el técnico repara de inmediato.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892040" y="3063240"/>
            <a:ext cx="379476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9525">
            <a:solidFill>
              <a:srgbClr val="DDE7E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120640" y="3291840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5131" y="3376331"/>
            <a:ext cx="215067" cy="21506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23560" y="32918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PARTICULAR  (es_garantia = false)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120640" y="379476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paga a Baird tras aprobar la cotización del técnico. Multi-marca (MABE, GE, Haceb, Whirlpool…). Anticipo del 50% de la tarifa de diagnóstico.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57200" y="4526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desplegado en producción — ambos flujos operativos end-to-end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tecnológico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de punta a punta — sin infraestructura propia que administrar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69748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9525">
            <a:solidFill>
              <a:srgbClr val="DDE7E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07592"/>
            <a:ext cx="365760" cy="365760"/>
          </a:xfrm>
          <a:prstGeom prst="ellipse">
            <a:avLst/>
          </a:prstGeom>
          <a:solidFill>
            <a:srgbClr val="0B556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547" y="1388059"/>
            <a:ext cx="204826" cy="2048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3075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+ React 19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0080" y="176479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Router, TypeScript 5 estricto y Tailwind CSS v4 (clases inline). Validación con Zod v4.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55848" y="1143000"/>
            <a:ext cx="2697480" cy="1691640"/>
          </a:xfrm>
          <a:prstGeom prst="roundRect">
            <a:avLst>
              <a:gd name="adj" fmla="val 3784"/>
            </a:avLst>
          </a:prstGeom>
          <a:solidFill>
            <a:srgbClr val="EAF4F5"/>
          </a:solidFill>
          <a:ln w="9525">
            <a:solidFill>
              <a:srgbClr val="DDE7E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38728" y="1307592"/>
            <a:ext cx="365760" cy="365760"/>
          </a:xfrm>
          <a:prstGeom prst="ellipse">
            <a:avLst/>
          </a:prstGeom>
          <a:solidFill>
            <a:srgbClr val="0B556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195" y="1388059"/>
            <a:ext cx="204826" cy="20482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95928" y="13075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(PostgreSQL)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538728" y="176479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datos, Auth de admins, Storage de evidencias y RLS. Cliente singleton + migraciones SQL.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54496" y="1143000"/>
            <a:ext cx="269748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9525">
            <a:solidFill>
              <a:srgbClr val="DDE7E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37376" y="1307592"/>
            <a:ext cx="365760" cy="365760"/>
          </a:xfrm>
          <a:prstGeom prst="ellipse">
            <a:avLst/>
          </a:prstGeom>
          <a:solidFill>
            <a:srgbClr val="0B556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843" y="1388059"/>
            <a:ext cx="204826" cy="20482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94576" y="13075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API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437376" y="176479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Cloud API v22.0, número propio y token permanente. 25 plantillas transaccionales.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" y="3063240"/>
            <a:ext cx="2697480" cy="1691640"/>
          </a:xfrm>
          <a:prstGeom prst="roundRect">
            <a:avLst>
              <a:gd name="adj" fmla="val 3784"/>
            </a:avLst>
          </a:prstGeom>
          <a:solidFill>
            <a:srgbClr val="EAF4F5"/>
          </a:solidFill>
          <a:ln w="9525">
            <a:solidFill>
              <a:srgbClr val="DDE7E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" y="3227832"/>
            <a:ext cx="365760" cy="365760"/>
          </a:xfrm>
          <a:prstGeom prst="ellipse">
            <a:avLst/>
          </a:prstGeom>
          <a:solidFill>
            <a:srgbClr val="0B556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547" y="3308299"/>
            <a:ext cx="204826" cy="20482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97280" y="32278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640080" y="368503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serverless/edge + cron jobs (recordatorios, GPS follow-up). Dominio lineablanca.bairdservice.com.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355848" y="3063240"/>
            <a:ext cx="269748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9525">
            <a:solidFill>
              <a:srgbClr val="DDE7E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538728" y="3227832"/>
            <a:ext cx="365760" cy="365760"/>
          </a:xfrm>
          <a:prstGeom prst="ellipse">
            <a:avLst/>
          </a:prstGeom>
          <a:solidFill>
            <a:srgbClr val="0B556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195" y="3308299"/>
            <a:ext cx="204826" cy="20482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95928" y="32278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IA: Gemini 2.0 Flash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3538728" y="368503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Triaje de fallas con IA (temporalmente desactivado). Segunda línea de voz IA (Dapta) en Fase 0, apagada.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254496" y="3063240"/>
            <a:ext cx="2697480" cy="1691640"/>
          </a:xfrm>
          <a:prstGeom prst="roundRect">
            <a:avLst>
              <a:gd name="adj" fmla="val 3784"/>
            </a:avLst>
          </a:prstGeom>
          <a:solidFill>
            <a:srgbClr val="EAF4F5"/>
          </a:solidFill>
          <a:ln w="9525">
            <a:solidFill>
              <a:srgbClr val="DDE7E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37376" y="3227832"/>
            <a:ext cx="365760" cy="365760"/>
          </a:xfrm>
          <a:prstGeom prst="ellipse">
            <a:avLst/>
          </a:prstGeom>
          <a:solidFill>
            <a:srgbClr val="0B5563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7843" y="3308299"/>
            <a:ext cx="204826" cy="20482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94576" y="32278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+ observabilidad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6437376" y="368503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pings por fase de visita, geocoding Google Maps, mapa Leaflet y panel de errores de conexión.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tipos de usuario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uno con su propia superficie de la aplicación y mecanismo de acceso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75104" cy="3200400"/>
          </a:xfrm>
          <a:prstGeom prst="roundRect">
            <a:avLst>
              <a:gd name="adj" fmla="val 3241"/>
            </a:avLst>
          </a:prstGeom>
          <a:solidFill>
            <a:srgbClr val="FFFFFF"/>
          </a:solidFill>
          <a:ln w="9525">
            <a:solidFill>
              <a:srgbClr val="DDE7E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93292" y="1463040"/>
            <a:ext cx="502920" cy="502920"/>
          </a:xfrm>
          <a:prstGeom prst="ellipse">
            <a:avLst/>
          </a:prstGeom>
          <a:solidFill>
            <a:srgbClr val="0B556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3934" y="157368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10312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3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21792" y="251460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 y gestiona su servicio. Sin login: cada acción usa un link con token UUID enviado por WhatsApp.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21792" y="3931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Acceso: links tokenizados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606040" y="1188720"/>
            <a:ext cx="1975104" cy="3200400"/>
          </a:xfrm>
          <a:prstGeom prst="roundRect">
            <a:avLst>
              <a:gd name="adj" fmla="val 3241"/>
            </a:avLst>
          </a:prstGeom>
          <a:solidFill>
            <a:srgbClr val="FFFFFF"/>
          </a:solidFill>
          <a:ln w="9525">
            <a:solidFill>
              <a:srgbClr val="DDE7E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42132" y="1463040"/>
            <a:ext cx="502920" cy="502920"/>
          </a:xfrm>
          <a:prstGeom prst="ellipse">
            <a:avLst/>
          </a:prstGeom>
          <a:solidFill>
            <a:srgbClr val="0B556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2774" y="1573682"/>
            <a:ext cx="281635" cy="28163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06040" y="210312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3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Técnico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2770632" y="251460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Contratista independiente verificado. Acepta, diagnostica, cotiza y completa servicios desde su portal móvil.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2770632" y="3931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Acceso: portal con token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754880" y="1188720"/>
            <a:ext cx="1975104" cy="3200400"/>
          </a:xfrm>
          <a:prstGeom prst="roundRect">
            <a:avLst>
              <a:gd name="adj" fmla="val 3241"/>
            </a:avLst>
          </a:prstGeom>
          <a:solidFill>
            <a:srgbClr val="FFFFFF"/>
          </a:solidFill>
          <a:ln w="9525">
            <a:solidFill>
              <a:srgbClr val="DDE7E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490972" y="1463040"/>
            <a:ext cx="502920" cy="502920"/>
          </a:xfrm>
          <a:prstGeom prst="ellipse">
            <a:avLst/>
          </a:prstGeom>
          <a:solidFill>
            <a:srgbClr val="0B556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1614" y="1573682"/>
            <a:ext cx="281635" cy="28163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754880" y="210312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3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4919472" y="251460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 la plataforma: solicitudes, técnicos, repuestos, precios, cargas masivas y estados atascados.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4919472" y="3931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Acceso: Supabase Auth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6903720" y="1188720"/>
            <a:ext cx="1975104" cy="3200400"/>
          </a:xfrm>
          <a:prstGeom prst="roundRect">
            <a:avLst>
              <a:gd name="adj" fmla="val 3241"/>
            </a:avLst>
          </a:prstGeom>
          <a:solidFill>
            <a:srgbClr val="FFFFFF"/>
          </a:solidFill>
          <a:ln w="9525">
            <a:solidFill>
              <a:srgbClr val="DDE7E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639812" y="146304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0454" y="1573682"/>
            <a:ext cx="281635" cy="28163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903720" y="2103120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3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Supervisor</a:t>
            </a:r>
            <a:endParaRPr lang="en-US" sz="1700" dirty="0"/>
          </a:p>
        </p:txBody>
      </p:sp>
      <p:sp>
        <p:nvSpPr>
          <p:cNvPr id="26" name="Text 20"/>
          <p:cNvSpPr/>
          <p:nvPr/>
        </p:nvSpPr>
        <p:spPr>
          <a:xfrm>
            <a:off x="7068312" y="251460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de solo notificación: recibe WhatsApp en cada cambio de estado, filtrado por ámbito, marca y estados.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7068312" y="3931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Acceso: solo WhatsApp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marca (MABE) no usa la app: paga las garantías vía tarifario NET-30/60.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puede hacer el cliente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Autoservicio completo por links tokenizados — nunca necesita crear cuenta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" cy="384048"/>
          </a:xfrm>
          <a:prstGeom prst="ellipse">
            <a:avLst/>
          </a:prstGeom>
          <a:solidFill>
            <a:srgbClr val="0B556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691" y="1273211"/>
            <a:ext cx="215067" cy="2150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87552" y="1143000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el servicio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987552" y="1417320"/>
            <a:ext cx="3630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/solicitar: equipo, falla, dirección. Ve el precio fijo de catálogo si aplica (mantenimiento, filtro).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892040" y="1188720"/>
            <a:ext cx="384048" cy="384048"/>
          </a:xfrm>
          <a:prstGeom prst="ellipse">
            <a:avLst/>
          </a:prstGeom>
          <a:solidFill>
            <a:srgbClr val="0B556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531" y="1273211"/>
            <a:ext cx="215067" cy="21506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22392" y="1143000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horario + T&amp;C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5422392" y="1417320"/>
            <a:ext cx="3630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/horario/{token} escoge 1 de 2 franjas y firma la aceptación de términos. Recién ahí se notifica a técnicos.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7200" y="2432304"/>
            <a:ext cx="384048" cy="384048"/>
          </a:xfrm>
          <a:prstGeom prst="ellipse">
            <a:avLst/>
          </a:prstGeom>
          <a:solidFill>
            <a:srgbClr val="0B5563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91" y="2516795"/>
            <a:ext cx="215067" cy="21506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87552" y="2386584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Aprobar cotización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987552" y="2660904"/>
            <a:ext cx="3630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(Particular) En /cotizacion/{token} ve diagnóstico, evidencias y total con IVA. Aprueba o rechaza con comentario.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892040" y="2432304"/>
            <a:ext cx="384048" cy="384048"/>
          </a:xfrm>
          <a:prstGeom prst="ellipse">
            <a:avLst/>
          </a:prstGeom>
          <a:solidFill>
            <a:srgbClr val="0B5563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6531" y="2516795"/>
            <a:ext cx="215067" cy="21506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22392" y="2386584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siguiente paso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5422392" y="2660904"/>
            <a:ext cx="3630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(Garantía) Aprueba el paso post-diagnóstico (ej. esperar repuesto) en /verificar-paso/{token}.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457200" y="3675888"/>
            <a:ext cx="384048" cy="384048"/>
          </a:xfrm>
          <a:prstGeom prst="ellipse">
            <a:avLst/>
          </a:prstGeom>
          <a:solidFill>
            <a:srgbClr val="0B5563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691" y="3760379"/>
            <a:ext cx="215067" cy="215067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87552" y="3630168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Cancelar / reagendar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987552" y="3904488"/>
            <a:ext cx="3630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/servicio/{token}: cancela o reagenda solo, máx. 2 veces, con cutoff de 4 h antes de la visita.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4892040" y="3675888"/>
            <a:ext cx="384048" cy="384048"/>
          </a:xfrm>
          <a:prstGeom prst="ellipse">
            <a:avLst/>
          </a:prstGeom>
          <a:solidFill>
            <a:srgbClr val="0B5563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6531" y="3760379"/>
            <a:ext cx="215067" cy="215067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422392" y="3630168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o disputar</a:t>
            </a:r>
            <a:endParaRPr lang="en-US" sz="1250" dirty="0"/>
          </a:p>
        </p:txBody>
      </p:sp>
      <p:sp>
        <p:nvSpPr>
          <p:cNvPr id="27" name="Text 19"/>
          <p:cNvSpPr/>
          <p:nvPr/>
        </p:nvSpPr>
        <p:spPr>
          <a:xfrm>
            <a:off x="5422392" y="3904488"/>
            <a:ext cx="3630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 confirma satisfacción en /confirmar/{token} → completada, o reporta problema → en_disputa.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457200" y="46817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También: reprogramar la visita cuando llega el repuesto (/reprogramar-repuesto/{token}) y solicitar eliminación de sus datos (Ley 1581).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puede hacer el técnico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Contratista independiente — todo su flujo de trabajo ocurre en el celular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" cy="384048"/>
          </a:xfrm>
          <a:prstGeom prst="ellipse">
            <a:avLst/>
          </a:prstGeom>
          <a:solidFill>
            <a:srgbClr val="0E354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691" y="1273211"/>
            <a:ext cx="215067" cy="2150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87552" y="1143000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Registrarse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987552" y="1417320"/>
            <a:ext cx="3630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/registro: datos, foto, documento, especialidades y ciudad. Queda pendiente de verificación por el admin.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892040" y="1188720"/>
            <a:ext cx="384048" cy="384048"/>
          </a:xfrm>
          <a:prstGeom prst="ellipse">
            <a:avLst/>
          </a:prstGeom>
          <a:solidFill>
            <a:srgbClr val="0E354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531" y="1273211"/>
            <a:ext cx="215067" cy="21506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22392" y="1143000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Aceptar con 1 clic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5422392" y="1417320"/>
            <a:ext cx="3630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la oferta por WhatsApp con pago mínimo garantizado. /aceptar/{token} — update atómico: el primero gana.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7200" y="2432304"/>
            <a:ext cx="384048" cy="384048"/>
          </a:xfrm>
          <a:prstGeom prst="ellipse">
            <a:avLst/>
          </a:prstGeom>
          <a:solidFill>
            <a:srgbClr val="0E354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91" y="2516795"/>
            <a:ext cx="215067" cy="21506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87552" y="2386584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Diagnosticar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987552" y="2660904"/>
            <a:ext cx="3630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Juramento digital obligatorio + GPS de llegada. Elige siguiente paso: reparar, esperar repuesto (SKU), no reparable o negativa.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892040" y="2432304"/>
            <a:ext cx="384048" cy="384048"/>
          </a:xfrm>
          <a:prstGeom prst="ellipse">
            <a:avLst/>
          </a:prstGeom>
          <a:solidFill>
            <a:srgbClr val="0E3540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6531" y="2516795"/>
            <a:ext cx="215067" cy="21506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22392" y="2386584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Cotizar (particular)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5422392" y="2660904"/>
            <a:ext cx="3630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Ingresa su costo total; el sistema calcula el precio al cliente (× 1.19 IVA × 1.10 margen) y envía la cotización.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457200" y="3675888"/>
            <a:ext cx="384048" cy="384048"/>
          </a:xfrm>
          <a:prstGeom prst="ellipse">
            <a:avLst/>
          </a:prstGeom>
          <a:solidFill>
            <a:srgbClr val="0E3540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691" y="3760379"/>
            <a:ext cx="215067" cy="215067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87552" y="3630168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con evidencia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987552" y="3904488"/>
            <a:ext cx="3630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comprimidas, checklist, firma del cliente y GPS. Dispara la verificación de satisfacción del cliente.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4892040" y="3675888"/>
            <a:ext cx="384048" cy="384048"/>
          </a:xfrm>
          <a:prstGeom prst="ellipse">
            <a:avLst/>
          </a:prstGeom>
          <a:solidFill>
            <a:srgbClr val="0E3540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6531" y="3760379"/>
            <a:ext cx="215067" cy="215067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422392" y="3630168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no-show</a:t>
            </a:r>
            <a:endParaRPr lang="en-US" sz="1250" dirty="0"/>
          </a:p>
        </p:txBody>
      </p:sp>
      <p:sp>
        <p:nvSpPr>
          <p:cNvPr id="27" name="Text 19"/>
          <p:cNvSpPr/>
          <p:nvPr/>
        </p:nvSpPr>
        <p:spPr>
          <a:xfrm>
            <a:off x="5422392" y="3904488"/>
            <a:ext cx="3630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cliente no está: foto del inmueble, intentos de contacto, espera 15 min con GPS → no_show_cliente.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457200" y="46817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/tecnico/{token}: lista de servicios asignados e historial. Cobra a través de Baird — nunca directo al cliente.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pueden hacer admin y supervisor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/admin con Supabase Auth + rol de supervisión por WhatsApp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5394960" cy="3657600"/>
          </a:xfrm>
          <a:prstGeom prst="roundRect">
            <a:avLst>
              <a:gd name="adj" fmla="val 1750"/>
            </a:avLst>
          </a:prstGeom>
          <a:solidFill>
            <a:srgbClr val="FFFFFF"/>
          </a:solidFill>
          <a:ln w="9525">
            <a:solidFill>
              <a:srgbClr val="DDE7E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371600"/>
            <a:ext cx="384048" cy="384048"/>
          </a:xfrm>
          <a:prstGeom prst="ellipse">
            <a:avLst/>
          </a:prstGeom>
          <a:solidFill>
            <a:srgbClr val="0B556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291" y="1456091"/>
            <a:ext cx="215067" cy="215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37160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— opera la plataforma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1874520"/>
            <a:ext cx="4892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Solicitudes: lista, detalle, calendario por franja, edición, notas internas y reenvío del último WhatsApp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Técnicos: verificación, especialidades e historial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Repuestos: marcar llegada → dispara reprogramación del cliente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gate: fija tiempo de entrega (garantía + repuesto) y ajusta el valor al cliente (particular)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masiva Excel BITÁCORA (garantías) y export .xlsx de 7 hojas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 hatch: forzar cualquier estado cuando el flujo se atasca (auditado)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Observabilidad: mapa de servicios, alertas GPS y panel de errores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35040" y="1143000"/>
            <a:ext cx="2651760" cy="3657600"/>
          </a:xfrm>
          <a:prstGeom prst="roundRect">
            <a:avLst>
              <a:gd name="adj" fmla="val 2414"/>
            </a:avLst>
          </a:prstGeom>
          <a:solidFill>
            <a:srgbClr val="EAF4F5"/>
          </a:solidFill>
          <a:ln w="9525">
            <a:solidFill>
              <a:srgbClr val="DDE7E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63640" y="1371600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8131" y="1456091"/>
            <a:ext cx="215067" cy="21506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766560" y="1371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263640" y="1874520"/>
            <a:ext cx="2240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un WhatsApp en cada cambio de estado de las solicitudes.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por supervisor: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Ámbito (todos / garantía / particular)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(ej. solo MABE)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específicos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en /admin/supervisores. También recibe resumen semanal PDF.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funcionan los pagos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principios fijos — todo pago pasa por Baird Service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697480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9525">
            <a:solidFill>
              <a:srgbClr val="DDE7E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371600"/>
            <a:ext cx="457200" cy="457200"/>
          </a:xfrm>
          <a:prstGeom prst="ellipse">
            <a:avLst/>
          </a:prstGeom>
          <a:solidFill>
            <a:srgbClr val="0B556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47218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19659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nunca paga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técnico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262432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pagos pasan por Baird (cláusula en T&amp;C §3). Baird cobra y luego transfiere al técnico su neto.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55848" y="1143000"/>
            <a:ext cx="2697480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9525">
            <a:solidFill>
              <a:srgbClr val="DDE7E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84448" y="1371600"/>
            <a:ext cx="457200" cy="457200"/>
          </a:xfrm>
          <a:prstGeom prst="ellipse">
            <a:avLst/>
          </a:prstGeom>
          <a:solidFill>
            <a:srgbClr val="0E354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032" y="147218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84448" y="19659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tarifarios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independientes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84448" y="262432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Garantía: tabla fija MABE Tipo D, paga la marca. Particular: se calcula sobre el costo que ingresa el técnico, paga el cliente.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54496" y="1143000"/>
            <a:ext cx="2697480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9525">
            <a:solidFill>
              <a:srgbClr val="DDE7E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83096" y="137160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47218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83096" y="19659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No-show: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paga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483096" y="262432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cliente no está, ni MABE ni Baird ni el cliente cubren el costo. Protocolo de evidencia obligatorio protege al técnico.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" y="3794760"/>
            <a:ext cx="8229600" cy="914400"/>
          </a:xfrm>
          <a:prstGeom prst="roundRect">
            <a:avLst>
              <a:gd name="adj" fmla="val 7000"/>
            </a:avLst>
          </a:prstGeom>
          <a:solidFill>
            <a:srgbClr val="EAF4F5"/>
          </a:solidFill>
          <a:ln w="9525">
            <a:solidFill>
              <a:srgbClr val="DDE7E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685800" y="39319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actual: </a:t>
            </a:r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cobro y pago al técnico son manuales (sin pasarela split-payment integrada — candidatas: ePayco Pagos Divididos, Mercado Pago). Modelo reseller: Baird factura al cliente con IVA discriminado y paga al técnico el costo neto.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Tarifas — Garantía MABE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Baird es Taller Tipo D (código 24). La marca paga: base + bono + recargo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2976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97280"/>
                <a:gridCol w="1005840"/>
                <a:gridCol w="10058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Complejidad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MABE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Bono máx.*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Recargo finde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$42.000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$9.400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$115.000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288036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Bono por resolver en 0–1 día con TA cumplido (diagnóstico &lt; 24 h) y encuesta contestada. Baja a $0 después de 3 días. Sin encuesta: ~50% del bono. El contador pausa mientras se espera repuesto.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983480" y="1188720"/>
            <a:ext cx="3703320" cy="1600200"/>
          </a:xfrm>
          <a:prstGeom prst="roundRect">
            <a:avLst>
              <a:gd name="adj" fmla="val 4000"/>
            </a:avLst>
          </a:prstGeom>
          <a:solidFill>
            <a:srgbClr val="0E3540"/>
          </a:solidFill>
          <a:ln w="9525">
            <a:solidFill>
              <a:srgbClr val="DDE7E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212080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Reparto Baird ↔ Técnico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212080" y="16459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Baird: 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de la base + 10% de bonos y recargos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Técnico: 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de la base + 90% de bonos y recargos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983480" y="2971800"/>
            <a:ext cx="1764792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9525">
            <a:solidFill>
              <a:srgbClr val="DDE7E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120640" y="310896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Peor caso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120640" y="33832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3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$42.000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120640" y="3822192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MABE paga (Baja, sin bonos)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Técnico: $32.760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Baird: $9.240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922008" y="2971800"/>
            <a:ext cx="1764792" cy="1737360"/>
          </a:xfrm>
          <a:prstGeom prst="roundRect">
            <a:avLst>
              <a:gd name="adj" fmla="val 3684"/>
            </a:avLst>
          </a:prstGeom>
          <a:solidFill>
            <a:srgbClr val="EAF4F5"/>
          </a:solidFill>
          <a:ln w="9525">
            <a:solidFill>
              <a:srgbClr val="DDE7E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059168" y="310896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caso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059168" y="338328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$139.000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059168" y="3822192"/>
            <a:ext cx="1572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+ bono 0–1 día + finde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Técnico: $111.300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Baird: $27.000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aceptar, el técnico ve el pago mínimo garantizado: “desde $32.760”.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Tarifas — Particular (no garantía)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técnico define su costo; el sistema calcula el precio al cliente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960120"/>
          </a:xfrm>
          <a:prstGeom prst="roundRect">
            <a:avLst>
              <a:gd name="adj" fmla="val 6667"/>
            </a:avLst>
          </a:prstGeom>
          <a:solidFill>
            <a:srgbClr val="0E3540"/>
          </a:solidFill>
          <a:ln w="9525">
            <a:solidFill>
              <a:srgbClr val="DDE7E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cliente  =  Costo técnico  ×  1.19</a:t>
            </a:r>
            <a:pPr indent="0" marL="0">
              <a:buNone/>
            </a:pPr>
            <a:r>
              <a:rPr lang="en-US" sz="1300" dirty="0">
                <a:solidFill>
                  <a:srgbClr val="8FB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(IVA)</a:t>
            </a:r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1.10</a:t>
            </a:r>
            <a:pPr indent="0" marL="0">
              <a:buNone/>
            </a:pPr>
            <a:r>
              <a:rPr lang="en-US" sz="1300" dirty="0">
                <a:solidFill>
                  <a:srgbClr val="8FB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(margen Baird)</a:t>
            </a:r>
            <a:pPr indent="0" marL="0">
              <a:buNone/>
            </a:pPr>
            <a:r>
              <a:rPr lang="en-US" sz="1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=   × 1.309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269748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9525">
            <a:solidFill>
              <a:srgbClr val="DDE7E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4688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/ Reparación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275234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$84.000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Anticipo 50% ($42.000) antes de la visita; se acredita si aprueba la reparación. Neto técnico: $64.171.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55848" y="2331720"/>
            <a:ext cx="269748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9525">
            <a:solidFill>
              <a:srgbClr val="DDE7E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38728" y="24688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538728" y="275234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$105.000 – $189.000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538728" y="32004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Según tipo de equipo, precio fijo de catálogo al solicitar. Neto técnico: $80.214 – $144.385.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54496" y="2331720"/>
            <a:ext cx="2697480" cy="1691640"/>
          </a:xfrm>
          <a:prstGeom prst="roundRect">
            <a:avLst>
              <a:gd name="adj" fmla="val 3784"/>
            </a:avLst>
          </a:prstGeom>
          <a:solidFill>
            <a:srgbClr val="EAF4F5"/>
          </a:solidFill>
          <a:ln w="9525">
            <a:solidFill>
              <a:srgbClr val="DDE7E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37376" y="24688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de filtro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37376" y="275234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$180.000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437376" y="32004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incluido: filtro + mano de obra + IVA. Neto técnico: $137.510 (de ahí sale el filtro).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solo ve “Total: $X (incluye IVA)” — sin desglose. </a:t>
            </a:r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Internamente se separa base + IVA + margen para la factura electrónica DIAN. En tarifa fija, el neto del técnico = catálogo ÷ 1.309.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detallado — Garantía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Agendamiento primero-el-cliente (v2). La marca paga; el cliente no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347472" cy="347472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33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32688" y="1097280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2688" y="1344168"/>
            <a:ext cx="36850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web o carga masiva Excel → estado pendiente_horario. WhatsApp al cliente con link de horario.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2112264"/>
            <a:ext cx="347472" cy="347472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122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32688" y="2075688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agenda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32688" y="2322576"/>
            <a:ext cx="36850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1 de 2 franjas + firma T&amp;C → notificada. Recién ahí se notifica a los técnicos compatibles. Timeout 24h+12h → sin_agendar.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090672"/>
            <a:ext cx="347472" cy="347472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090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32688" y="3054096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 acepta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32688" y="3300984"/>
            <a:ext cx="36850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 en WhatsApp, update atómico (primero gana) → asignada. Aviso a cliente y técnico.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4069080"/>
            <a:ext cx="347472" cy="347472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069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32688" y="4032504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2688" y="4279392"/>
            <a:ext cx="36850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Juramento + GPS. 4 salidas: reparar → en_proceso · esperar repuesto (SKU) · no reparable (fin) · negativa cliente (fin).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92040" y="1133856"/>
            <a:ext cx="347472" cy="347472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1133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67528" y="1097280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Repuesto (si aplica)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67528" y="1344168"/>
            <a:ext cx="36850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fija tiempo de entrega → cliente aprueba el paso → llega el repuesto → cliente reprograma la visita → en_proceso.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92040" y="2112264"/>
            <a:ext cx="347472" cy="347472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21122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67528" y="2075688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67528" y="2322576"/>
            <a:ext cx="36850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+ checklist + firma + GPS → en_verificacion. Cron GPS detecta si el técnico sigue en el sitio (alerta silenciosa).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92040" y="3090672"/>
            <a:ext cx="347472" cy="347472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29" name="Text 27"/>
          <p:cNvSpPr/>
          <p:nvPr/>
        </p:nvSpPr>
        <p:spPr>
          <a:xfrm>
            <a:off x="4892040" y="3090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67528" y="3054096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confirma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67528" y="3300984"/>
            <a:ext cx="36850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Satisfecho → completada · Problema → en_disputa (revisión de evidencias).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92040" y="4069080"/>
            <a:ext cx="347472" cy="347472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33" name="Text 31"/>
          <p:cNvSpPr/>
          <p:nvPr/>
        </p:nvSpPr>
        <p:spPr>
          <a:xfrm>
            <a:off x="4892040" y="4069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67528" y="4032504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Liquidación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67528" y="4279392"/>
            <a:ext cx="36850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calcula tarifa MABE (base + bono TA/encuesta + recargo finde). Baird 22%/10% — técnico 78%/90%.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terminales: completada · sin_agendar · finalizado_sin_reparacion · cancelada_cliente · cancelada · no_show_cliente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detallado — Particular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 esqueleto, con cotización y aprobación del cliente en el medio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33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32688" y="1097280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2688" y="1344168"/>
            <a:ext cx="36850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ve la tarifa: diagnóstico $84.000 con anticipo del 50%, o precio fijo de catálogo (mantenimiento, filtro).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2112264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122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32688" y="2075688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agenda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32688" y="2322576"/>
            <a:ext cx="36850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selección de horario + T&amp;C que garantía → notificada → broadcast a técnicos.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090672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090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32688" y="3054096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 acepta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32688" y="3300984"/>
            <a:ext cx="36850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 → diagnostico_pendiente (distinto de garantía: aún no hay precio de reparación).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4069080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069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32688" y="4032504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+ cotización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2688" y="4279392"/>
            <a:ext cx="36850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técnico ingresa su costo total; el sistema calcula × 1.309 y envía la cotización al cliente automáticamente.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92040" y="1133856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1133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67528" y="1097280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decide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67528" y="1344168"/>
            <a:ext cx="36850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/cotizacion/{token}: aprueba → en_proceso · rechaza → cotizacion_rechazada (terminal). Admin puede reajustar el valor.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92040" y="2112264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21122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67528" y="2075688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Reparación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67528" y="2322576"/>
            <a:ext cx="36850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requiere repuesto: esperando_repuesto → llegada → reprogramación, igual que garantía.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92040" y="3090672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4892040" y="3090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67528" y="3054096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+ confirmar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67528" y="3300984"/>
            <a:ext cx="36850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 + firma → en_verificacion → cliente confirma → completada o en_disputa.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92040" y="4069080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4892040" y="4069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67528" y="4032504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Liquidación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67528" y="4279392"/>
            <a:ext cx="36850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pagó a Baird el total con IVA. Técnico recibe su costo neto íntegro; Baird retiene IVA + margen 10%.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clave vs. garantía: el cliente debe aprobar la cotización antes de reparar, y el anticipo no es reembolsable si cancela tarde (&lt; 4 h).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¿Está indexada en Google?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Verificado el 5 de julio de 2026 (site: + revisión del código)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977640" cy="1371600"/>
          </a:xfrm>
          <a:prstGeom prst="roundRect">
            <a:avLst>
              <a:gd name="adj" fmla="val 4667"/>
            </a:avLst>
          </a:prstGeom>
          <a:solidFill>
            <a:srgbClr val="FBEEEE"/>
          </a:solidFill>
          <a:ln w="9525">
            <a:solidFill>
              <a:srgbClr val="DDE7E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173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325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4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está indexada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371600" y="181051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site:lineablanca.bairdservice.com → 0 resultados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2697480"/>
            <a:ext cx="397764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9525">
            <a:solidFill>
              <a:srgbClr val="DDE7E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85800" y="2834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85800" y="3127248"/>
            <a:ext cx="3520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robots.txt ni sitemap.xml en la app (verificado en el código y en producción)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está pendiente en TODO.md (Open Graph, meta tags, sitemap)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se registró en Google Search Console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 todas las páginas son privadas por token — solo /solicitar, /registro y /terminos son públicas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617720" y="1143000"/>
            <a:ext cx="4069080" cy="1371600"/>
          </a:xfrm>
          <a:prstGeom prst="roundRect">
            <a:avLst>
              <a:gd name="adj" fmla="val 4667"/>
            </a:avLst>
          </a:prstGeom>
          <a:solidFill>
            <a:srgbClr val="EAF4F5"/>
          </a:solidFill>
          <a:ln w="9525">
            <a:solidFill>
              <a:srgbClr val="DDE7E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141732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2801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indexadas: bairdservice.com (sitio corporativo) y tienda.bairdservice.com (repuestos, Shopify)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617720" y="2697480"/>
            <a:ext cx="406908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9525">
            <a:solidFill>
              <a:srgbClr val="DDE7E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4846320" y="2834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Recomendado si se quiere tráfico orgánico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846320" y="3127248"/>
            <a:ext cx="3611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robots.ts y sitemap.ts (nativos de Next 16) — indexar solo páginas públicas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Marcar noindex las rutas tokenizadas (privacidad del cliente)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el subdominio en Search Console y enviar el sitemap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Canonical: el alias baird-app.vercel.app sigue vivo — riesgo de contenido duplicado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3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y próximos pasos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B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 julio 2026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77640" cy="3429000"/>
          </a:xfrm>
          <a:prstGeom prst="roundRect">
            <a:avLst>
              <a:gd name="adj" fmla="val 1867"/>
            </a:avLst>
          </a:prstGeom>
          <a:solidFill>
            <a:srgbClr val="12424F"/>
          </a:solidFill>
          <a:ln w="9525">
            <a:solidFill>
              <a:srgbClr val="DDE7E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D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Sólido hoy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35204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CE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flujos operativos end-to-end en producción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CE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con token permanente y número propio; 22 plantillas aprobadas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CE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robusta: GPS por fases, fotos, firmas, juramento, audit log append-only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CE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Tarifarios parametrizados en código con doc canónico (docs/TARIFAS.md)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CE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legal alineado a ley colombiana (Ley 1581, Estatuto del Consumidor)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17720" y="1234440"/>
            <a:ext cx="4069080" cy="3429000"/>
          </a:xfrm>
          <a:prstGeom prst="roundRect">
            <a:avLst>
              <a:gd name="adj" fmla="val 1867"/>
            </a:avLst>
          </a:prstGeom>
          <a:solidFill>
            <a:srgbClr val="3A2E14"/>
          </a:solidFill>
          <a:ln w="9525">
            <a:solidFill>
              <a:srgbClr val="DDE7E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Pendientes clave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737360"/>
            <a:ext cx="36118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2E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Seguridad: RLS apagado en solicitudes_servicio (tabla principal) y policies de escritura abiertas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2E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plantillas WhatsApp que el código invoca no están subidas a Meta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2E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Pagos: sin pasarela split-payment ni factura electrónica DIAN automática; retenciones manuales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2E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tests automatizados (Vitest configurado, sin tests)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2E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/ indexación: robots, sitemap, Search Console, canonical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Baird Service SAS  ·  lineablanca.bairdservice.com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Baird Service — Plataforma</dc:title>
  <dc:subject>PptxGenJS Presentation</dc:subject>
  <dc:creator>Baird Service</dc:creator>
  <cp:lastModifiedBy>Baird Service</cp:lastModifiedBy>
  <cp:revision>1</cp:revision>
  <dcterms:created xsi:type="dcterms:W3CDTF">2026-07-06T04:18:43Z</dcterms:created>
  <dcterms:modified xsi:type="dcterms:W3CDTF">2026-07-06T04:18:43Z</dcterms:modified>
</cp:coreProperties>
</file>